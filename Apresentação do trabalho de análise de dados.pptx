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7"/>
  </p:notesMasterIdLst>
  <p:handoutMasterIdLst>
    <p:handoutMasterId r:id="rId18"/>
  </p:handoutMasterIdLst>
  <p:sldIdLst>
    <p:sldId id="857" r:id="rId2"/>
    <p:sldId id="941" r:id="rId3"/>
    <p:sldId id="1046" r:id="rId4"/>
    <p:sldId id="1047" r:id="rId5"/>
    <p:sldId id="1050" r:id="rId6"/>
    <p:sldId id="1048" r:id="rId7"/>
    <p:sldId id="1054" r:id="rId8"/>
    <p:sldId id="1055" r:id="rId9"/>
    <p:sldId id="1051" r:id="rId10"/>
    <p:sldId id="1056" r:id="rId11"/>
    <p:sldId id="1052" r:id="rId12"/>
    <p:sldId id="1057" r:id="rId13"/>
    <p:sldId id="1053" r:id="rId14"/>
    <p:sldId id="1058" r:id="rId15"/>
    <p:sldId id="104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A7A7"/>
    <a:srgbClr val="0AA7EC"/>
    <a:srgbClr val="FFFFFF"/>
    <a:srgbClr val="000000"/>
    <a:srgbClr val="0C8DA0"/>
    <a:srgbClr val="008095"/>
    <a:srgbClr val="4AB0A3"/>
    <a:srgbClr val="3C618A"/>
    <a:srgbClr val="FEF8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0" y="-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621FFD4-934C-4D27-B74A-B50F15DBDD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8007CC-E449-416C-BCDB-6A92F5B3CC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7E2A3-4A8E-400C-8856-85A4445127FD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4D309BD-F751-4428-8936-DB7C04CCCA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EA2D091-2370-4989-9D16-1006197654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67E7C-A850-4AF1-9875-1DBBDD90B5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73003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B0471-A52B-42D2-8187-92655EE414BB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56ADA4-B8C0-4C47-9201-3F105287DC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68563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32860"/>
            <a:ext cx="9144000" cy="1209659"/>
          </a:xfrm>
        </p:spPr>
        <p:txBody>
          <a:bodyPr>
            <a:normAutofit/>
          </a:bodyPr>
          <a:lstStyle>
            <a:lvl1pPr marL="0" indent="0" algn="ctr">
              <a:buNone/>
              <a:defRPr sz="3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27D3398-1787-4E0A-8989-8B3A3145BC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48831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626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333" y="136525"/>
            <a:ext cx="10515600" cy="1150737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333" y="1642369"/>
            <a:ext cx="10888467" cy="4534594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05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757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041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852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8624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301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502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0255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133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Prof. Simone Gama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TÓPICOS DE BIG DATA EM PYTHON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2283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9684F-508F-4116-A841-526FEDFD6B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904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ispdados.rj.gov.br/estatistica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8F777-81FA-4FC3-8356-7C17D3C33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09" y="-1"/>
            <a:ext cx="11042072" cy="4890655"/>
          </a:xfrm>
        </p:spPr>
        <p:txBody>
          <a:bodyPr>
            <a:noAutofit/>
          </a:bodyPr>
          <a:lstStyle/>
          <a:p>
            <a:r>
              <a:rPr lang="pt-BR" sz="1800" dirty="0"/>
              <a:t>INSTITUIÇÃO ESTÁCIO DE SÁ</a:t>
            </a:r>
            <a:br>
              <a:rPr lang="pt-BR" sz="1800" dirty="0"/>
            </a:br>
            <a:r>
              <a:rPr lang="pt-BR" sz="1800" dirty="0"/>
              <a:t>CURSO DE ANÁLISE E DESENVOLVIMENTO DE SISTEMAS</a:t>
            </a:r>
            <a:br>
              <a:rPr lang="pt-BR" sz="1800" dirty="0"/>
            </a:br>
            <a:r>
              <a:rPr lang="pt-BR" sz="1800" dirty="0"/>
              <a:t>PROJETO DE EXTENSÃO EM CIÊNCIA DE DADOS:</a:t>
            </a:r>
            <a:br>
              <a:rPr lang="pt-BR" sz="1800" dirty="0"/>
            </a:br>
            <a:r>
              <a:rPr lang="pt-BR" sz="1800" dirty="0"/>
              <a:t>ANÁLISE REGIONAL DE SEGURANÇA PÚBLICA E</a:t>
            </a:r>
            <a:br>
              <a:rPr lang="pt-BR" sz="1800" dirty="0"/>
            </a:br>
            <a:r>
              <a:rPr lang="pt-BR" sz="1800" dirty="0"/>
              <a:t>MODELAGEM DE REGRESSÃO LINEAR DO FURTO E</a:t>
            </a:r>
            <a:br>
              <a:rPr lang="pt-BR" sz="1800" dirty="0"/>
            </a:br>
            <a:r>
              <a:rPr lang="pt-BR" sz="1800" dirty="0"/>
              <a:t>RECUPERAÇÃO DE VEÍCULOS NO ESTADO DO RIO DE</a:t>
            </a:r>
            <a:br>
              <a:rPr lang="pt-BR" sz="1800" dirty="0"/>
            </a:br>
            <a:r>
              <a:rPr lang="pt-BR" sz="1800" dirty="0"/>
              <a:t>JANEIRO</a:t>
            </a:r>
            <a:br>
              <a:rPr lang="pt-BR" sz="1800" dirty="0"/>
            </a:br>
            <a:r>
              <a:rPr lang="pt-BR" sz="1800" dirty="0"/>
              <a:t>Thiago Marlon da Conceição Esteves Damas (Matrícula: 202502432968)</a:t>
            </a:r>
            <a:br>
              <a:rPr lang="pt-BR" sz="1800" dirty="0"/>
            </a:br>
            <a:r>
              <a:rPr lang="pt-BR" sz="1800" dirty="0"/>
              <a:t>Gabriel Araújo dos Santos Pereira (Matrícula: 202504255079)</a:t>
            </a:r>
            <a:br>
              <a:rPr lang="pt-BR" sz="1800" dirty="0"/>
            </a:br>
            <a:r>
              <a:rPr lang="pt-BR" sz="1800" dirty="0"/>
              <a:t>Orientadora: Prof.a Simone Gama</a:t>
            </a:r>
            <a:br>
              <a:rPr lang="pt-BR" sz="1800" dirty="0"/>
            </a:br>
            <a:r>
              <a:rPr lang="pt-BR" sz="1800" dirty="0"/>
              <a:t>RIO DE JANEIRO</a:t>
            </a:r>
            <a:br>
              <a:rPr lang="pt-BR" sz="1800" dirty="0"/>
            </a:br>
            <a:r>
              <a:rPr lang="pt-BR" sz="1800" dirty="0"/>
              <a:t>2026</a:t>
            </a:r>
            <a:br>
              <a:rPr lang="pt-BR" sz="1600" dirty="0"/>
            </a:b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186912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DD4ED-D4ED-D024-7731-B3F932C47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213" y="65504"/>
            <a:ext cx="9793717" cy="830236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Introdução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FF8101-7D88-D7E1-54CC-5DCDC0C67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2A7D931-081D-9456-FF1C-793A24675BF1}"/>
              </a:ext>
            </a:extLst>
          </p:cNvPr>
          <p:cNvSpPr txBox="1"/>
          <p:nvPr/>
        </p:nvSpPr>
        <p:spPr>
          <a:xfrm>
            <a:off x="449944" y="1671322"/>
            <a:ext cx="1160076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Problemática:</a:t>
            </a:r>
            <a:r>
              <a:rPr lang="pt-BR" sz="2400" dirty="0"/>
              <a:t> O roubo e furto de veículos representam um dos maiores gargalos da segurança pública fluminense. Compreender a eficiência do Estado em reaver esses bens é essencial. A taxa de recuperação acompanha proporcionalmente o volume de crimes ou existem disparidades regionais? </a:t>
            </a:r>
          </a:p>
          <a:p>
            <a:r>
              <a:rPr lang="pt-BR" sz="2400" dirty="0"/>
              <a:t> </a:t>
            </a:r>
          </a:p>
          <a:p>
            <a:r>
              <a:rPr lang="pt-BR" sz="2400" b="1" dirty="0"/>
              <a:t>Solução Apresentada:</a:t>
            </a:r>
            <a:r>
              <a:rPr lang="pt-BR" sz="2400" dirty="0"/>
              <a:t> Desenvolvimento de um modelo preditivo baseado em </a:t>
            </a:r>
            <a:r>
              <a:rPr lang="pt-BR" sz="2400" b="1" u="sng" dirty="0"/>
              <a:t>Regressão Linear Simples</a:t>
            </a:r>
            <a:r>
              <a:rPr lang="pt-BR" sz="2400" dirty="0"/>
              <a:t> segregado por 4 macrorregiões para medir o impacto de um furto incremental na capacidade de recuperação policial. </a:t>
            </a:r>
          </a:p>
          <a:p>
            <a:endParaRPr lang="pt-BR" sz="2400" dirty="0"/>
          </a:p>
          <a:p>
            <a:r>
              <a:rPr lang="pt-BR" sz="2400" b="1" dirty="0"/>
              <a:t>Impacto Social:</a:t>
            </a:r>
            <a:r>
              <a:rPr lang="pt-BR" sz="2400" dirty="0"/>
              <a:t> Subsidiar o planejamento estratégico das polícias Civil e Militar, identificando quais regiões demandam maior aporte logístico ou reestruturação de delegacias especializadas (como a DRFA).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7" name="Picture 2" descr="Análise de dados - ícones de computador grátis">
            <a:extLst>
              <a:ext uri="{FF2B5EF4-FFF2-40B4-BE49-F238E27FC236}">
                <a16:creationId xmlns:a16="http://schemas.microsoft.com/office/drawing/2014/main" id="{A8A5E6ED-D845-C81A-C68C-5A98DE024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3" y="65503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816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F6E54-D8AA-B49D-497E-DC33489F4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18E51-5B33-995C-CCCF-06A669F61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699" y="65504"/>
            <a:ext cx="9945232" cy="830236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Objetivos Geral e Específico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3DE75C-ECF5-E45B-A436-FA1237FB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3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6AA46B7-FBC4-E5BB-0B76-B9BD2917BC54}"/>
              </a:ext>
            </a:extLst>
          </p:cNvPr>
          <p:cNvSpPr txBox="1"/>
          <p:nvPr/>
        </p:nvSpPr>
        <p:spPr>
          <a:xfrm>
            <a:off x="750954" y="1338812"/>
            <a:ext cx="11600767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Objetivo Geral:</a:t>
            </a:r>
            <a:r>
              <a:rPr lang="pt-BR" sz="2400" dirty="0"/>
              <a:t> </a:t>
            </a:r>
          </a:p>
          <a:p>
            <a:r>
              <a:rPr lang="pt-BR" sz="2400" dirty="0"/>
              <a:t>Analisar a relação estatística entre o volume de furtos de veículos e a sua respectiva recuperação nas diferentes regiões do estado do Rio de Janeiro utilizando ciência de dados. </a:t>
            </a:r>
          </a:p>
          <a:p>
            <a:r>
              <a:rPr lang="pt-BR" sz="2400" b="1" dirty="0"/>
              <a:t> </a:t>
            </a:r>
            <a:endParaRPr lang="pt-BR" sz="2400" dirty="0"/>
          </a:p>
          <a:p>
            <a:r>
              <a:rPr lang="pt-BR" sz="2400" b="1" dirty="0"/>
              <a:t>Objetivos Específicos:</a:t>
            </a:r>
            <a:endParaRPr lang="pt-BR" sz="2400" dirty="0"/>
          </a:p>
          <a:p>
            <a:r>
              <a:rPr lang="pt-BR" sz="2400" dirty="0"/>
              <a:t>Mapear e segregar os dados criminais mensais com base nos dados do </a:t>
            </a:r>
            <a:r>
              <a:rPr lang="pt-BR" sz="2400" b="1" i="1" u="sng" dirty="0"/>
              <a:t>ISP – Instituto de Segurança Pública</a:t>
            </a:r>
            <a:r>
              <a:rPr lang="pt-BR" sz="2400" dirty="0"/>
              <a:t> (</a:t>
            </a:r>
            <a:r>
              <a:rPr lang="pt-BR" sz="2400" i="1" dirty="0"/>
              <a:t>Capital, Baixada Fluminense, Interior e Grande Niterói</a:t>
            </a:r>
            <a:r>
              <a:rPr lang="pt-BR" sz="2400" dirty="0"/>
              <a:t>).</a:t>
            </a:r>
          </a:p>
          <a:p>
            <a:r>
              <a:rPr lang="pt-BR" sz="2400" dirty="0"/>
              <a:t>Implementar modelos de regressão linear simples para cada ecossistema regional.</a:t>
            </a:r>
          </a:p>
          <a:p>
            <a:r>
              <a:rPr lang="pt-BR" sz="2400" dirty="0"/>
              <a:t>Avaliar e comparar a precisão dos modelos através das métricas estatísticas.</a:t>
            </a:r>
          </a:p>
          <a:p>
            <a:pPr algn="just"/>
            <a:endParaRPr lang="pt-BR" sz="3000" dirty="0"/>
          </a:p>
        </p:txBody>
      </p:sp>
      <p:pic>
        <p:nvPicPr>
          <p:cNvPr id="7" name="Picture 2" descr="Análise de dados - ícones de computador grátis">
            <a:extLst>
              <a:ext uri="{FF2B5EF4-FFF2-40B4-BE49-F238E27FC236}">
                <a16:creationId xmlns:a16="http://schemas.microsoft.com/office/drawing/2014/main" id="{34761A26-C142-6C94-01C8-B56CC3FBB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3" y="65503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387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06F81-1443-0A48-EF3C-12C4F44D2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A5F91-4277-B0AA-C9D3-EE4F07636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699" y="65504"/>
            <a:ext cx="9945232" cy="830236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Ferramentas Usadas 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D26B82-94F0-4E9A-9DB1-9C376E013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4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DB1DBF0-8ED3-6936-338C-D90FED8B6021}"/>
              </a:ext>
            </a:extLst>
          </p:cNvPr>
          <p:cNvSpPr txBox="1"/>
          <p:nvPr/>
        </p:nvSpPr>
        <p:spPr>
          <a:xfrm>
            <a:off x="283689" y="1394231"/>
            <a:ext cx="11600767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u="sng" dirty="0"/>
              <a:t>Ferramentas Usadas:</a:t>
            </a:r>
            <a:endParaRPr lang="pt-BR" sz="2400" dirty="0"/>
          </a:p>
          <a:p>
            <a:r>
              <a:rPr lang="pt-BR" sz="2400" dirty="0"/>
              <a:t>O projeto foi inteiramente estruturado em ambiente de desktop utilizando a linguagem Python. As principais bibliotecas aplicadas foram: </a:t>
            </a:r>
          </a:p>
          <a:p>
            <a:r>
              <a:rPr lang="pt-BR" sz="2400" dirty="0"/>
              <a:t> </a:t>
            </a:r>
          </a:p>
          <a:p>
            <a:r>
              <a:rPr lang="pt-BR" sz="2400" b="1" dirty="0"/>
              <a:t>VSCODE - Jupiter notebook Python:</a:t>
            </a:r>
            <a:r>
              <a:rPr lang="pt-BR" sz="2400" dirty="0"/>
              <a:t> Ambiente de desenvolvimento integrado para computação Desktop.</a:t>
            </a:r>
          </a:p>
          <a:p>
            <a:endParaRPr lang="pt-BR" sz="2400" dirty="0"/>
          </a:p>
          <a:p>
            <a:r>
              <a:rPr lang="pt-BR" sz="2400" b="1" dirty="0"/>
              <a:t>Pandas &amp; NumPy:</a:t>
            </a:r>
            <a:r>
              <a:rPr lang="pt-BR" sz="2400" dirty="0"/>
              <a:t> Manipulação, filtragem de registros por região e tratamento matemático dos arrays.</a:t>
            </a:r>
          </a:p>
          <a:p>
            <a:r>
              <a:rPr lang="pt-BR" sz="2400" dirty="0"/>
              <a:t> </a:t>
            </a:r>
          </a:p>
          <a:p>
            <a:r>
              <a:rPr lang="pt-BR" sz="2400" b="1" dirty="0"/>
              <a:t>Scikit-Learn (LinearRegression):</a:t>
            </a:r>
            <a:r>
              <a:rPr lang="pt-BR" sz="2400" dirty="0"/>
              <a:t> Algoritmo responsável por computar os coeficientes e ajustar as retas pelo método dos mínimos quadrados e aprendizado de máquina. </a:t>
            </a:r>
          </a:p>
          <a:p>
            <a:endParaRPr lang="pt-BR" sz="2400" dirty="0"/>
          </a:p>
          <a:p>
            <a:r>
              <a:rPr lang="pt-BR" sz="2400" b="1" dirty="0"/>
              <a:t>Matplotlib:</a:t>
            </a:r>
            <a:r>
              <a:rPr lang="pt-BR" sz="2400" dirty="0"/>
              <a:t> Geração dos gráficos de dispersão unificados em um painel para análise visual.</a:t>
            </a:r>
          </a:p>
          <a:p>
            <a:pPr algn="just"/>
            <a:endParaRPr lang="pt-BR" sz="3000" dirty="0"/>
          </a:p>
        </p:txBody>
      </p:sp>
      <p:pic>
        <p:nvPicPr>
          <p:cNvPr id="7" name="Picture 2" descr="Análise de dados - ícones de computador grátis">
            <a:extLst>
              <a:ext uri="{FF2B5EF4-FFF2-40B4-BE49-F238E27FC236}">
                <a16:creationId xmlns:a16="http://schemas.microsoft.com/office/drawing/2014/main" id="{CDCEC7BA-67A1-18CD-EDE9-8ECE90B2F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3" y="65503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836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974FD-86CF-8DBB-5D39-4C14AD72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558E37-B9B8-7BFA-BAD7-56178F9AD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699" y="65504"/>
            <a:ext cx="9945232" cy="830236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Base de dados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AB9167-9730-D943-579C-985455527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90531BB-5FF8-BA4D-0B10-873161AF6CF5}"/>
              </a:ext>
            </a:extLst>
          </p:cNvPr>
          <p:cNvSpPr txBox="1"/>
          <p:nvPr/>
        </p:nvSpPr>
        <p:spPr>
          <a:xfrm>
            <a:off x="518568" y="1389767"/>
            <a:ext cx="11600767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Origem dos Dados:</a:t>
            </a:r>
            <a:r>
              <a:rPr lang="pt-BR" sz="2400" dirty="0"/>
              <a:t> Dados oficiais provenientes do Instituto de Segurança Pública (ISP) do Rio de Janeiro (</a:t>
            </a:r>
            <a:r>
              <a:rPr lang="pt-BR" sz="2400" u="sng" dirty="0">
                <a:hlinkClick r:id="rId2"/>
              </a:rPr>
              <a:t>https://www.ispdados.rj.gov.br/estatistica.html</a:t>
            </a:r>
            <a:r>
              <a:rPr lang="pt-BR" sz="2400" dirty="0"/>
              <a:t>)</a:t>
            </a:r>
          </a:p>
          <a:p>
            <a:r>
              <a:rPr lang="pt-BR" sz="2400" dirty="0"/>
              <a:t>(arquivo - BaseDPEvolucaoMensalCisp.csv).</a:t>
            </a:r>
          </a:p>
          <a:p>
            <a:r>
              <a:rPr lang="pt-BR" sz="2400" dirty="0"/>
              <a:t>(Tamanho do arquivo – 6,66 MB)</a:t>
            </a:r>
          </a:p>
          <a:p>
            <a:r>
              <a:rPr lang="pt-BR" sz="2400" dirty="0"/>
              <a:t> </a:t>
            </a:r>
          </a:p>
          <a:p>
            <a:r>
              <a:rPr lang="pt-BR" sz="2400" b="1" dirty="0"/>
              <a:t>Observação:</a:t>
            </a:r>
            <a:r>
              <a:rPr lang="pt-BR" sz="2400" dirty="0"/>
              <a:t> Os dados estavam bem estruturados e não foi necessário um forte tratamento na base, apenas algumas correções pontuais, para que a análise tivesse uma forte coesão assertiva.</a:t>
            </a:r>
          </a:p>
          <a:p>
            <a:pPr algn="just"/>
            <a:endParaRPr lang="pt-BR" sz="3000" dirty="0"/>
          </a:p>
        </p:txBody>
      </p:sp>
      <p:pic>
        <p:nvPicPr>
          <p:cNvPr id="7" name="Picture 2" descr="Análise de dados - ícones de computador grátis">
            <a:extLst>
              <a:ext uri="{FF2B5EF4-FFF2-40B4-BE49-F238E27FC236}">
                <a16:creationId xmlns:a16="http://schemas.microsoft.com/office/drawing/2014/main" id="{57DC3E56-6044-0CC7-A0E9-65863F801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3" y="65503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630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7C0EA-0A63-97EA-744A-912E1B768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F589B-F1BB-40CC-3084-43986F559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699" y="65504"/>
            <a:ext cx="9945232" cy="830236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Resultados Alcançados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5AD938-02FE-2FBA-43BD-0348BD569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6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B0E4AF5-3F99-BCD4-12B7-F04CB04182D8}"/>
              </a:ext>
            </a:extLst>
          </p:cNvPr>
          <p:cNvSpPr txBox="1"/>
          <p:nvPr/>
        </p:nvSpPr>
        <p:spPr>
          <a:xfrm>
            <a:off x="283689" y="1394231"/>
            <a:ext cx="11600767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1" dirty="0"/>
              <a:t>Análise Descritiva da Base de Dados:</a:t>
            </a:r>
            <a:endParaRPr lang="pt-BR" sz="2200" dirty="0"/>
          </a:p>
          <a:p>
            <a:r>
              <a:rPr lang="pt-BR" sz="2200" i="1" u="sng" dirty="0"/>
              <a:t>O que foi feito</a:t>
            </a:r>
            <a:r>
              <a:rPr lang="pt-BR" sz="2200" b="1" dirty="0"/>
              <a:t>:</a:t>
            </a:r>
            <a:r>
              <a:rPr lang="pt-BR" sz="2200" dirty="0"/>
              <a:t> Antes de criar qualquer modelo preditivo, foi feita uma exploração estatística descritiva para entender o comportamento geral e a escala dos crimes em cada região do estado do Rio de Janeiro.</a:t>
            </a:r>
          </a:p>
          <a:p>
            <a:r>
              <a:rPr lang="pt-BR" sz="2200" i="1" u="sng" dirty="0"/>
              <a:t>Métricas analisadas:</a:t>
            </a:r>
            <a:r>
              <a:rPr lang="pt-BR" sz="2200" dirty="0"/>
              <a:t> Foram calculados as médias e os desvios padrões mensais das variáveis dependentes Furtos de Veículos (Y), Recuperação de Veículos (Y) e a variável ano como variável independente (X).</a:t>
            </a:r>
          </a:p>
          <a:p>
            <a:r>
              <a:rPr lang="pt-BR" sz="2200" i="1" u="sng" dirty="0"/>
              <a:t>Interpretação Prática:</a:t>
            </a:r>
            <a:r>
              <a:rPr lang="pt-BR" sz="2200" dirty="0"/>
              <a:t> As regiões da Capital e a Baixada Fluminense apresentam as maiores médias mensais de furtos e recuperações, refletindo a alta densidade populacional e de frota circulante, já as regiões do Interior e da Grande Niterói possuem volumes significativamente menores, o que muda a dinâmica de comportamento dos dados. O desvio padrão nos mostra o quanto o crime oscila mês a mês (se há meses com picos muito discrepantes ou se o crime mantém uma linha constante).</a:t>
            </a:r>
          </a:p>
          <a:p>
            <a:endParaRPr lang="pt-BR" sz="2200" dirty="0"/>
          </a:p>
          <a:p>
            <a:pPr marL="1428750" lvl="2" indent="-514350" algn="just">
              <a:buFont typeface="+mj-lt"/>
              <a:buAutoNum type="arabicPeriod"/>
            </a:pPr>
            <a:endParaRPr lang="pt-BR" sz="3000" i="1" dirty="0"/>
          </a:p>
        </p:txBody>
      </p:sp>
      <p:pic>
        <p:nvPicPr>
          <p:cNvPr id="7" name="Picture 2" descr="Análise de dados - ícones de computador grátis">
            <a:extLst>
              <a:ext uri="{FF2B5EF4-FFF2-40B4-BE49-F238E27FC236}">
                <a16:creationId xmlns:a16="http://schemas.microsoft.com/office/drawing/2014/main" id="{906B9BA9-2D03-4373-5C45-570071796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03" y="65504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847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20161-14ED-ACEE-5D7E-E67D32626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945" y="136526"/>
            <a:ext cx="9927988" cy="750166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Resultados Alcançados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9375E9-F041-0728-745A-D75381910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900" b="1" dirty="0"/>
              <a:t>Capital </a:t>
            </a:r>
          </a:p>
          <a:p>
            <a:r>
              <a:rPr lang="pt-BR" sz="1900" b="1" dirty="0"/>
              <a:t>FURTO DE VEÍCULOS </a:t>
            </a:r>
            <a:r>
              <a:rPr lang="pt-BR" sz="1900" b="1" i="1" dirty="0"/>
              <a:t>Média: </a:t>
            </a:r>
            <a:r>
              <a:rPr lang="pt-BR" sz="1900" dirty="0"/>
              <a:t>7303.909090909091 </a:t>
            </a:r>
            <a:r>
              <a:rPr lang="pt-BR" sz="1900" b="1" i="1" dirty="0"/>
              <a:t>Mediana: </a:t>
            </a:r>
            <a:r>
              <a:rPr lang="pt-BR" sz="1900" dirty="0"/>
              <a:t>7050.0 </a:t>
            </a:r>
            <a:r>
              <a:rPr lang="pt-BR" sz="1900" b="1" i="1" dirty="0"/>
              <a:t>Moda: </a:t>
            </a:r>
            <a:r>
              <a:rPr lang="pt-BR" sz="1900" b="1" i="1" u="sng" dirty="0"/>
              <a:t>(</a:t>
            </a:r>
            <a:r>
              <a:rPr lang="pt-BR" sz="1900" u="sng" dirty="0"/>
              <a:t>0 6027) (1 6376) (2 6710) (3 6839) (4 6862) (5 7050) (6 7178) (7 7536) (8 8213) (9 8680) (10 8872)</a:t>
            </a:r>
            <a:r>
              <a:rPr lang="pt-BR" sz="1900" dirty="0"/>
              <a:t> </a:t>
            </a:r>
            <a:r>
              <a:rPr lang="pt-BR" sz="1900" b="1" i="1" dirty="0"/>
              <a:t>Valor mínimo: </a:t>
            </a:r>
            <a:r>
              <a:rPr lang="pt-BR" sz="1900" dirty="0"/>
              <a:t>6027 </a:t>
            </a:r>
            <a:r>
              <a:rPr lang="pt-BR" sz="1900" b="1" i="1" dirty="0"/>
              <a:t>Valor máximo: </a:t>
            </a:r>
            <a:r>
              <a:rPr lang="pt-BR" sz="1900" dirty="0"/>
              <a:t>8872 </a:t>
            </a:r>
            <a:r>
              <a:rPr lang="pt-BR" sz="1900" b="1" i="1" dirty="0"/>
              <a:t>Desvio padrão: </a:t>
            </a:r>
            <a:r>
              <a:rPr lang="pt-BR" sz="1900" dirty="0"/>
              <a:t>925.680015398999 </a:t>
            </a:r>
            <a:r>
              <a:rPr lang="pt-BR" sz="1900" b="1" i="1" dirty="0"/>
              <a:t>Variância: </a:t>
            </a:r>
            <a:r>
              <a:rPr lang="pt-BR" sz="1900" dirty="0"/>
              <a:t>856883.490909091 </a:t>
            </a:r>
            <a:r>
              <a:rPr lang="pt-BR" sz="1900" b="1" i="1" dirty="0"/>
              <a:t>Quartis: </a:t>
            </a:r>
            <a:r>
              <a:rPr lang="pt-BR" sz="1900" dirty="0"/>
              <a:t>0.25 6774.5 0.50 7050.0 0.75 7874.5 </a:t>
            </a:r>
          </a:p>
          <a:p>
            <a:endParaRPr lang="pt-BR" sz="1900" b="1" dirty="0"/>
          </a:p>
          <a:p>
            <a:r>
              <a:rPr lang="pt-BR" sz="1900" b="1" dirty="0"/>
              <a:t>RECUPERAÇÃO DE VEÍCULOS </a:t>
            </a:r>
            <a:r>
              <a:rPr lang="pt-BR" sz="1900" b="1" i="1" dirty="0"/>
              <a:t>Média</a:t>
            </a:r>
            <a:r>
              <a:rPr lang="pt-BR" sz="1900" dirty="0"/>
              <a:t>: 11428.272727272728 </a:t>
            </a:r>
            <a:r>
              <a:rPr lang="pt-BR" sz="1900" b="1" i="1" dirty="0"/>
              <a:t>Mediana: </a:t>
            </a:r>
            <a:r>
              <a:rPr lang="pt-BR" sz="1900" dirty="0"/>
              <a:t>9960.0 </a:t>
            </a:r>
            <a:r>
              <a:rPr lang="pt-BR" sz="1900" b="1" i="1" dirty="0"/>
              <a:t>Moda: (</a:t>
            </a:r>
            <a:r>
              <a:rPr lang="pt-BR" sz="1900" u="sng" dirty="0"/>
              <a:t>0 6688) (1 7577) (2 7910) (3 8590) (4 9148) (5 9960) (6 11166) (7 12812) (8 13811) (9 18705) (10 19344)</a:t>
            </a:r>
            <a:r>
              <a:rPr lang="pt-BR" sz="1900" dirty="0"/>
              <a:t> </a:t>
            </a:r>
            <a:r>
              <a:rPr lang="pt-BR" sz="1900" b="1" i="1" dirty="0"/>
              <a:t>Valor mínimo: </a:t>
            </a:r>
            <a:r>
              <a:rPr lang="pt-BR" sz="1900" dirty="0"/>
              <a:t>6688 </a:t>
            </a:r>
            <a:r>
              <a:rPr lang="pt-BR" sz="1900" b="1" i="1" dirty="0"/>
              <a:t>Valor máximo: </a:t>
            </a:r>
            <a:r>
              <a:rPr lang="pt-BR" sz="1900" dirty="0"/>
              <a:t>19344 </a:t>
            </a:r>
            <a:r>
              <a:rPr lang="pt-BR" sz="1900" b="1" i="1" dirty="0"/>
              <a:t>Desvio padrão: </a:t>
            </a:r>
            <a:r>
              <a:rPr lang="pt-BR" sz="1900" dirty="0"/>
              <a:t>4340.07334248879 </a:t>
            </a:r>
            <a:r>
              <a:rPr lang="pt-BR" sz="1900" b="1" i="1" dirty="0"/>
              <a:t>Variância: </a:t>
            </a:r>
            <a:r>
              <a:rPr lang="pt-BR" sz="1900" dirty="0"/>
              <a:t>18836236.618181817 </a:t>
            </a:r>
            <a:r>
              <a:rPr lang="pt-BR" sz="1900" b="1" i="1" dirty="0"/>
              <a:t>Quartis: </a:t>
            </a:r>
            <a:r>
              <a:rPr lang="pt-BR" sz="1900" dirty="0"/>
              <a:t>0.25 8250.0 0.50 9960.0 0.75 13311.5</a:t>
            </a:r>
            <a:endParaRPr lang="pt-BR" sz="1900" dirty="0">
              <a:highlight>
                <a:srgbClr val="FFFFFF"/>
              </a:highlight>
            </a:endParaRPr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5C8CB76-3E2E-D5E5-EE84-4CA21F47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7</a:t>
            </a:fld>
            <a:endParaRPr lang="pt-BR" dirty="0"/>
          </a:p>
        </p:txBody>
      </p:sp>
      <p:pic>
        <p:nvPicPr>
          <p:cNvPr id="6" name="Picture 2" descr="Análise de dados - ícones de computador grátis">
            <a:extLst>
              <a:ext uri="{FF2B5EF4-FFF2-40B4-BE49-F238E27FC236}">
                <a16:creationId xmlns:a16="http://schemas.microsoft.com/office/drawing/2014/main" id="{A28671A1-43DE-8A0D-09D0-66524B937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03" y="65504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Rodapé 3">
            <a:extLst>
              <a:ext uri="{FF2B5EF4-FFF2-40B4-BE49-F238E27FC236}">
                <a16:creationId xmlns:a16="http://schemas.microsoft.com/office/drawing/2014/main" id="{8408E5B0-C6AC-9206-72F9-105B89B40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4666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8B420F-EF4D-BA17-5EB9-DDC224C7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079" y="-113883"/>
            <a:ext cx="10515600" cy="1150737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Resultados Alcançados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02DD76-C05C-9B8A-B129-1FF6CA8E8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b="1" dirty="0"/>
              <a:t>Grande Niterói </a:t>
            </a:r>
          </a:p>
          <a:p>
            <a:r>
              <a:rPr lang="pt-BR" sz="2000" b="1" dirty="0"/>
              <a:t>FURTO DE VEÍCULOS Média: </a:t>
            </a:r>
            <a:r>
              <a:rPr lang="pt-BR" sz="2000" dirty="0"/>
              <a:t>2016.1818181818182 </a:t>
            </a:r>
            <a:r>
              <a:rPr lang="pt-BR" sz="2000" b="1" dirty="0"/>
              <a:t>Mediana: </a:t>
            </a:r>
            <a:r>
              <a:rPr lang="pt-BR" sz="2000" dirty="0"/>
              <a:t>2036.0 </a:t>
            </a:r>
            <a:r>
              <a:rPr lang="pt-BR" sz="2000" b="1" dirty="0"/>
              <a:t>Moda:</a:t>
            </a:r>
            <a:r>
              <a:rPr lang="pt-BR" sz="2000" b="1" u="sng" dirty="0"/>
              <a:t> (</a:t>
            </a:r>
            <a:r>
              <a:rPr lang="pt-BR" sz="2000" u="sng" dirty="0"/>
              <a:t>0 1526) (1 1642) (2 1938) (3 1968) (4 1993) (5 2036) (6 2040) (7 2136) (8 2191) (9 2247) (10 2461) </a:t>
            </a:r>
            <a:r>
              <a:rPr lang="pt-BR" sz="2000" b="1" dirty="0"/>
              <a:t>Valor mínimo: </a:t>
            </a:r>
            <a:r>
              <a:rPr lang="pt-BR" sz="2000" dirty="0"/>
              <a:t>1526 </a:t>
            </a:r>
            <a:r>
              <a:rPr lang="pt-BR" sz="2000" b="1" dirty="0"/>
              <a:t>Valor máximo: </a:t>
            </a:r>
            <a:r>
              <a:rPr lang="pt-BR" sz="2000" dirty="0"/>
              <a:t>2461 </a:t>
            </a:r>
            <a:r>
              <a:rPr lang="pt-BR" sz="2000" b="1" dirty="0"/>
              <a:t>Desvio padrão: </a:t>
            </a:r>
            <a:r>
              <a:rPr lang="pt-BR" sz="2000" dirty="0"/>
              <a:t>261.9693944650093 </a:t>
            </a:r>
            <a:r>
              <a:rPr lang="pt-BR" sz="2000" b="1" dirty="0"/>
              <a:t>Variância: </a:t>
            </a:r>
            <a:r>
              <a:rPr lang="pt-BR" sz="2000" dirty="0"/>
              <a:t>68627.96363636365 </a:t>
            </a:r>
            <a:r>
              <a:rPr lang="pt-BR" sz="2000" b="1" dirty="0"/>
              <a:t>Quartis: </a:t>
            </a:r>
            <a:r>
              <a:rPr lang="pt-BR" sz="2000" dirty="0"/>
              <a:t>0.25 1953.0 0.50 2036.0 0.75 2163.5 </a:t>
            </a:r>
          </a:p>
          <a:p>
            <a:endParaRPr lang="pt-BR" sz="2000" dirty="0"/>
          </a:p>
          <a:p>
            <a:r>
              <a:rPr lang="pt-BR" sz="2000" b="1" dirty="0"/>
              <a:t>RECUPERAÇÃO DE VEÍCULOS Média</a:t>
            </a:r>
            <a:r>
              <a:rPr lang="pt-BR" sz="2000" dirty="0"/>
              <a:t>: 2800.818181818182 </a:t>
            </a:r>
            <a:r>
              <a:rPr lang="pt-BR" sz="2000" b="1" dirty="0"/>
              <a:t>Mediana: </a:t>
            </a:r>
            <a:r>
              <a:rPr lang="pt-BR" sz="2000" dirty="0"/>
              <a:t>1620.0 </a:t>
            </a:r>
            <a:r>
              <a:rPr lang="pt-BR" sz="2000" b="1" dirty="0"/>
              <a:t>Moda:</a:t>
            </a:r>
            <a:r>
              <a:rPr lang="pt-BR" sz="2000" b="1" u="sng" dirty="0"/>
              <a:t> (</a:t>
            </a:r>
            <a:r>
              <a:rPr lang="pt-BR" sz="2000" u="sng" dirty="0"/>
              <a:t>0 989) (1 1031) (2 1264) (3 1367) (4 1503) (5 1620) (6 3501) (7 4055) (8 4173) (9 5624) (10 5682) </a:t>
            </a:r>
            <a:r>
              <a:rPr lang="pt-BR" sz="2000" b="1" dirty="0"/>
              <a:t>Valor mínimo: </a:t>
            </a:r>
            <a:r>
              <a:rPr lang="pt-BR" sz="2000" dirty="0"/>
              <a:t>989 </a:t>
            </a:r>
            <a:r>
              <a:rPr lang="pt-BR" sz="2000" b="1" dirty="0"/>
              <a:t>Valor máximo: </a:t>
            </a:r>
            <a:r>
              <a:rPr lang="pt-BR" sz="2000" dirty="0"/>
              <a:t>5682 </a:t>
            </a:r>
            <a:r>
              <a:rPr lang="pt-BR" sz="2000" b="1" dirty="0"/>
              <a:t>Desvio padrão: </a:t>
            </a:r>
            <a:r>
              <a:rPr lang="pt-BR" sz="2000" dirty="0"/>
              <a:t>1847.401516627169 </a:t>
            </a:r>
            <a:r>
              <a:rPr lang="pt-BR" sz="2000" b="1" dirty="0"/>
              <a:t>Variância: </a:t>
            </a:r>
            <a:r>
              <a:rPr lang="pt-BR" sz="2000" dirty="0"/>
              <a:t>3412892.363636364 </a:t>
            </a:r>
            <a:r>
              <a:rPr lang="pt-BR" sz="2000" b="1" dirty="0"/>
              <a:t>Quartis: </a:t>
            </a:r>
            <a:r>
              <a:rPr lang="pt-BR" sz="2000" dirty="0"/>
              <a:t>0.25 1315.5 0.50 1620.0 0.75 4114.0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21ECFCD-E002-E9E0-39B8-D9B7EA553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A47F71-B133-3D3D-2469-E55855900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8</a:t>
            </a:fld>
            <a:endParaRPr lang="pt-BR" dirty="0"/>
          </a:p>
        </p:txBody>
      </p:sp>
      <p:pic>
        <p:nvPicPr>
          <p:cNvPr id="6" name="Picture 2" descr="Análise de dados - ícones de computador grátis">
            <a:extLst>
              <a:ext uri="{FF2B5EF4-FFF2-40B4-BE49-F238E27FC236}">
                <a16:creationId xmlns:a16="http://schemas.microsoft.com/office/drawing/2014/main" id="{D67ABB7A-9A8D-F5E5-AEF7-DE950130A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03" y="65504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148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49DAE-448A-B6C6-0D84-6B1EC7C5D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387" y="-173430"/>
            <a:ext cx="9387660" cy="1150737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Resultados Alcançados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4A5ED3-0C28-350E-B9C4-3BD6269DB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sz="2600" b="1" dirty="0"/>
              <a:t>Regressão Linear Simples:</a:t>
            </a:r>
            <a:endParaRPr lang="pt-BR" sz="2600" dirty="0"/>
          </a:p>
          <a:p>
            <a:r>
              <a:rPr lang="pt-BR" sz="2600" i="1" u="sng" dirty="0"/>
              <a:t>O que foi feito:</a:t>
            </a:r>
            <a:r>
              <a:rPr lang="pt-BR" sz="2600" dirty="0"/>
              <a:t> O objetivo do trabalho foi modelar o impacto que o aumento de furtos causa na capacidade de resposta da polícia (recuperação). Foi criada uma reta matemática para cada uma das 4 regiões.</a:t>
            </a:r>
          </a:p>
          <a:p>
            <a:r>
              <a:rPr lang="pt-BR" sz="2600" i="1" u="sng" dirty="0"/>
              <a:t>Coeficiente Angular:</a:t>
            </a:r>
            <a:r>
              <a:rPr lang="pt-BR" sz="2600" dirty="0"/>
              <a:t> Ele explica a taxa de conversão da polícia. Se o coeficiente angular da Capital for, por exemplo, 0.45, significa que a cada 100 veículos furtados a mais em um mês, a polícia recupera em média estatisticamente 45 veículos adicionais. </a:t>
            </a:r>
          </a:p>
          <a:p>
            <a:r>
              <a:rPr lang="pt-BR" sz="2600" i="1" u="sng" dirty="0"/>
              <a:t>Intercepto:</a:t>
            </a:r>
            <a:r>
              <a:rPr lang="pt-BR" sz="2600" dirty="0"/>
              <a:t> Conforme mapeado no código, em algumas regiões ele apresentará comportamento negativo ou flutuante. O intercepto aqui atua como constante de ajuste matemático, dado que o cenário de "zero furtos" é uma extrapolação fora do domínio de dados históricos. </a:t>
            </a:r>
          </a:p>
          <a:p>
            <a:r>
              <a:rPr lang="pt-BR" sz="2600" i="1" u="sng" dirty="0"/>
              <a:t>Força do Modelo (Ajuste):</a:t>
            </a:r>
            <a:r>
              <a:rPr lang="pt-BR" sz="2600" dirty="0"/>
              <a:t> regiões com (R²) &gt;= 0.7 validam que a atividade de recuperação é estritamente vinculada ao volume de ocorrências (Ajuste Forte). Regiões com (R²) baixo indicam que o modelo simples não basta: fatores externos (como desmanches interestaduais ou policiamento de fronteira) interferem no ritmo das recuperações.</a:t>
            </a:r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C85A366-25C0-5342-A382-12F27425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9</a:t>
            </a:fld>
            <a:endParaRPr lang="pt-BR" dirty="0"/>
          </a:p>
        </p:txBody>
      </p:sp>
      <p:pic>
        <p:nvPicPr>
          <p:cNvPr id="6" name="Picture 2" descr="Análise de dados - ícones de computador grátis">
            <a:extLst>
              <a:ext uri="{FF2B5EF4-FFF2-40B4-BE49-F238E27FC236}">
                <a16:creationId xmlns:a16="http://schemas.microsoft.com/office/drawing/2014/main" id="{CE32C8F5-A4A8-2B73-C05A-ACB5000C4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3" y="65503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515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615D9-D004-9878-3C99-41B9129F0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821" y="-95282"/>
            <a:ext cx="10371333" cy="1150737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Resultados Alcançados</a:t>
            </a:r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513A8ECE-F1EA-AD6B-C252-2D4F7F1B03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40" y="1594528"/>
            <a:ext cx="5771279" cy="4533900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E82275-99F3-BABC-E6D0-C74752C5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10</a:t>
            </a:fld>
            <a:endParaRPr lang="pt-BR" dirty="0"/>
          </a:p>
        </p:txBody>
      </p:sp>
      <p:pic>
        <p:nvPicPr>
          <p:cNvPr id="8" name="Picture 2" descr="Análise de dados - ícones de computador grátis">
            <a:extLst>
              <a:ext uri="{FF2B5EF4-FFF2-40B4-BE49-F238E27FC236}">
                <a16:creationId xmlns:a16="http://schemas.microsoft.com/office/drawing/2014/main" id="{9B5A4FFD-6786-0C25-2A0D-30C21B798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27" y="42977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BB4BDD7-332A-7496-4D09-2F8B6BB54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983" y="1594528"/>
            <a:ext cx="5944458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62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196CF-2EAE-24D2-A26E-7688EB853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754" y="-23643"/>
            <a:ext cx="9581624" cy="1050879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Resultados Alcançados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57CCC0-D3C7-4431-F5D7-69595789B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b="1" dirty="0"/>
              <a:t>Distribuição de Frequências:</a:t>
            </a:r>
            <a:endParaRPr lang="pt-BR" sz="2000" dirty="0"/>
          </a:p>
          <a:p>
            <a:r>
              <a:rPr lang="pt-BR" sz="2000" i="1" u="sng" dirty="0"/>
              <a:t>O que foi feito:</a:t>
            </a:r>
            <a:r>
              <a:rPr lang="pt-BR" sz="2000" b="1" dirty="0"/>
              <a:t> </a:t>
            </a:r>
            <a:r>
              <a:rPr lang="pt-BR" sz="2000" dirty="0"/>
              <a:t>Foi analisado como os volumes mensais de furtos se espalham ao longo do tempo. Em vez de olhar apenas para a média, a distribuição de frequências divide os dados em faixas (por exemplo: meses com 0 a 100 furtos, 101 a 200 furtos, etc.) para ver em qual faixa os meses se concentram mais.</a:t>
            </a:r>
          </a:p>
          <a:p>
            <a:r>
              <a:rPr lang="pt-BR" sz="2000" i="1" u="sng" dirty="0"/>
              <a:t>Interpretação Prática:</a:t>
            </a:r>
            <a:r>
              <a:rPr lang="pt-BR" sz="2000" dirty="0"/>
              <a:t> Permite identificar se a criminalidade em uma região é estável ou sazonal. Se uma região tem a maioria dos meses concentrada em uma faixa estreita de valores, o comportamento do crime é previsível.  Se a distribuição for muito espalhada (especialmente em regiões menores como o Interior ou Grande Niterói), significa que o comportamento é mais volátil, dificultando a precisão de um modelo de regressão linear simples.</a:t>
            </a:r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B2DF786-0A25-FDE4-1711-F4C8375B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11</a:t>
            </a:fld>
            <a:endParaRPr lang="pt-BR" dirty="0"/>
          </a:p>
        </p:txBody>
      </p:sp>
      <p:pic>
        <p:nvPicPr>
          <p:cNvPr id="6" name="Picture 2" descr="Análise de dados - ícones de computador grátis">
            <a:extLst>
              <a:ext uri="{FF2B5EF4-FFF2-40B4-BE49-F238E27FC236}">
                <a16:creationId xmlns:a16="http://schemas.microsoft.com/office/drawing/2014/main" id="{88885D27-0437-7D48-89E6-967CA93B6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3" y="65503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554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5F39F-C42D-E4C3-F196-E0B002429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54" y="-95225"/>
            <a:ext cx="10515600" cy="1150737"/>
          </a:xfrm>
        </p:spPr>
        <p:txBody>
          <a:bodyPr/>
          <a:lstStyle/>
          <a:p>
            <a:r>
              <a:rPr lang="pt-BR" dirty="0"/>
              <a:t>       </a:t>
            </a:r>
            <a:r>
              <a:rPr lang="pt-BR" dirty="0">
                <a:solidFill>
                  <a:srgbClr val="FF0000"/>
                </a:solidFill>
              </a:rPr>
              <a:t>Resultados Alcançados</a:t>
            </a:r>
            <a:endParaRPr lang="pt-BR" dirty="0"/>
          </a:p>
        </p:txBody>
      </p:sp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7B5F5AEA-D77E-3F90-513B-17BD92E41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960" y="1438981"/>
            <a:ext cx="6067040" cy="4533900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894AA78-4007-7661-7240-5E39054A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12</a:t>
            </a:fld>
            <a:endParaRPr lang="pt-BR" dirty="0"/>
          </a:p>
        </p:txBody>
      </p:sp>
      <p:pic>
        <p:nvPicPr>
          <p:cNvPr id="6" name="Picture 2" descr="Análise de dados - ícones de computador grátis">
            <a:extLst>
              <a:ext uri="{FF2B5EF4-FFF2-40B4-BE49-F238E27FC236}">
                <a16:creationId xmlns:a16="http://schemas.microsoft.com/office/drawing/2014/main" id="{479D8EBC-898B-302D-E452-6C3A78BAA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086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673CFBB-53BD-B3BD-B479-D1E3F8FB97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981"/>
            <a:ext cx="5749636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321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1858F7-8333-E546-A398-8494109D1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41" y="-113884"/>
            <a:ext cx="10515600" cy="1150737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Resultados Alcançados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E3158F-5E89-7C73-592E-BA08C53B1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333" y="1366791"/>
            <a:ext cx="10888467" cy="5425706"/>
          </a:xfrm>
        </p:spPr>
        <p:txBody>
          <a:bodyPr>
            <a:normAutofit fontScale="32500" lnSpcReduction="20000"/>
          </a:bodyPr>
          <a:lstStyle/>
          <a:p>
            <a:pPr marL="1428750" lvl="2" indent="-514350" algn="just">
              <a:buFont typeface="+mj-lt"/>
              <a:buAutoNum type="arabicPeriod"/>
            </a:pPr>
            <a:endParaRPr lang="pt-BR" sz="4000" dirty="0">
              <a:highlight>
                <a:srgbClr val="FFFFFF"/>
              </a:highlight>
            </a:endParaRPr>
          </a:p>
          <a:p>
            <a:r>
              <a:rPr lang="pt-BR" sz="6200" b="1" dirty="0"/>
              <a:t>Identificação de Outliers (Pontos Fora da Curva):</a:t>
            </a:r>
            <a:endParaRPr lang="pt-BR" sz="6200" dirty="0"/>
          </a:p>
          <a:p>
            <a:r>
              <a:rPr lang="pt-BR" sz="6200" i="1" u="sng" dirty="0"/>
              <a:t>O que foi feito:</a:t>
            </a:r>
            <a:r>
              <a:rPr lang="pt-BR" sz="6200" dirty="0"/>
              <a:t> Na análise visual dos gráficos gerados pelo nosso código (os pontos azuis dispersos ao redor da linha vermelha), procuramos por outliers — meses atípicos em que o volume de furtos ou de recuperações foi absurdamente maior ou menor que o normal histórico.</a:t>
            </a:r>
          </a:p>
          <a:p>
            <a:pPr marL="0" indent="0">
              <a:buNone/>
            </a:pPr>
            <a:endParaRPr lang="pt-BR" sz="6200" dirty="0"/>
          </a:p>
          <a:p>
            <a:r>
              <a:rPr lang="pt-BR" sz="6200" b="1" dirty="0"/>
              <a:t>Interpretação Prática: </a:t>
            </a:r>
            <a:endParaRPr lang="pt-BR" sz="6200" dirty="0"/>
          </a:p>
          <a:p>
            <a:r>
              <a:rPr lang="pt-BR" sz="6200" i="1" u="sng" dirty="0"/>
              <a:t>Outlier de Furto:</a:t>
            </a:r>
            <a:r>
              <a:rPr lang="pt-BR" sz="6200" dirty="0"/>
              <a:t> Um mês com um pico histórico de crimes (pode indicar uma onda de criminalidade específica, grandes eventos públicos na região ou greve de forças de segurança).</a:t>
            </a:r>
          </a:p>
          <a:p>
            <a:endParaRPr lang="pt-BR" sz="6200" dirty="0"/>
          </a:p>
          <a:p>
            <a:r>
              <a:rPr lang="pt-BR" sz="6200" i="1" u="sng" dirty="0"/>
              <a:t>Outlier de Recuperação:</a:t>
            </a:r>
            <a:r>
              <a:rPr lang="pt-BR" sz="6200" dirty="0"/>
              <a:t> Um mês onde a recuperação foi muito maior do que a linha de tendência previa. Na prática da segurança pública, isso costuma indicar o sucesso de grandes operações policiais, estouro de desmanches clandestinos ou a desarticulação de quadrilhas especializadas naquela região.</a:t>
            </a:r>
          </a:p>
          <a:p>
            <a:endParaRPr lang="pt-BR" sz="6200" dirty="0"/>
          </a:p>
          <a:p>
            <a:r>
              <a:rPr lang="pt-BR" sz="6200" dirty="0"/>
              <a:t>identificar esses pontos é fundamental, pois outliers extremos têm o poder de "puxar" a linha da regressão para cima ou para baixo, distorcendo os dados analisados.</a:t>
            </a:r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50E56C6-F158-1458-89E8-C89C71C47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13</a:t>
            </a:fld>
            <a:endParaRPr lang="pt-BR" dirty="0"/>
          </a:p>
        </p:txBody>
      </p:sp>
      <p:pic>
        <p:nvPicPr>
          <p:cNvPr id="6" name="Picture 2" descr="Análise de dados - ícones de computador grátis">
            <a:extLst>
              <a:ext uri="{FF2B5EF4-FFF2-40B4-BE49-F238E27FC236}">
                <a16:creationId xmlns:a16="http://schemas.microsoft.com/office/drawing/2014/main" id="{7A56ED14-7B78-47BF-587E-593D40AE8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3" y="65503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3007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010C4-DDAD-CD58-9FC0-759A06FB3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243" y="-59301"/>
            <a:ext cx="10515600" cy="1150737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Resultados Alcançados</a:t>
            </a:r>
            <a:endParaRPr lang="pt-BR" dirty="0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68E939F5-7BDB-0ECF-2D5D-6C53F40F2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890" y="1648691"/>
            <a:ext cx="5514109" cy="4342152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570B12D-D56A-76C6-CBCD-507DEC2C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14</a:t>
            </a:fld>
            <a:endParaRPr lang="pt-BR" dirty="0"/>
          </a:p>
        </p:txBody>
      </p:sp>
      <p:pic>
        <p:nvPicPr>
          <p:cNvPr id="6" name="Picture 2" descr="Análise de dados - ícones de computador grátis">
            <a:extLst>
              <a:ext uri="{FF2B5EF4-FFF2-40B4-BE49-F238E27FC236}">
                <a16:creationId xmlns:a16="http://schemas.microsoft.com/office/drawing/2014/main" id="{E1FC4BFF-9523-DE95-60FE-8BDEC4AC3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086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783C810-1D0F-FEB6-0186-CE19AD1685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73" y="1380100"/>
            <a:ext cx="5613427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875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90FA9-C88D-F50B-C029-C6940C72F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47539-7F18-F0FD-6DCD-390D14EE5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699" y="65504"/>
            <a:ext cx="9945232" cy="830236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Análise Final</a:t>
            </a:r>
            <a:endParaRPr lang="pt-BR" dirty="0">
              <a:solidFill>
                <a:srgbClr val="0070C0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B67AF8-B2D6-D22F-A73A-79C80A3B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9684F-508F-4116-A841-526FEDFD6B60}" type="slidenum">
              <a:rPr lang="pt-BR" smtClean="0"/>
              <a:pPr/>
              <a:t>15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F4F294C-D407-67AE-6CA4-89E9C9B0EC82}"/>
              </a:ext>
            </a:extLst>
          </p:cNvPr>
          <p:cNvSpPr txBox="1"/>
          <p:nvPr/>
        </p:nvSpPr>
        <p:spPr>
          <a:xfrm>
            <a:off x="283689" y="1394231"/>
            <a:ext cx="11600767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/>
              <a:t>"Nosso trabalho realizou uma Análise Descritiva (para compreender o histórico e distribuição dos dados através das médias e frequências) combinada com uma Análise Preditiva (onde usamos a Regressão Linear Simples para tentar estimar a capacidade futura de recuperação de veículos com base na tendência dos furtos registrados)."</a:t>
            </a:r>
          </a:p>
          <a:p>
            <a:r>
              <a:rPr lang="pt-BR" sz="2200" b="1" dirty="0"/>
              <a:t> </a:t>
            </a:r>
            <a:endParaRPr lang="pt-BR" sz="2200" dirty="0"/>
          </a:p>
          <a:p>
            <a:r>
              <a:rPr lang="pt-BR" sz="2200" b="1" dirty="0"/>
              <a:t>Conclusão da Implementação:</a:t>
            </a:r>
            <a:r>
              <a:rPr lang="pt-BR" sz="2200" dirty="0"/>
              <a:t> O modelo de regressão linear dividida provou que a segurança pública no Rio de Janeiro não funciona de forma homogênea. O índice de recuperação responde de maneiras distintas ao volume de criminalidade a depender da região. </a:t>
            </a:r>
          </a:p>
          <a:p>
            <a:r>
              <a:rPr lang="pt-BR" sz="2200" dirty="0"/>
              <a:t> </a:t>
            </a:r>
          </a:p>
          <a:p>
            <a:r>
              <a:rPr lang="pt-BR" sz="2200" b="1" dirty="0"/>
              <a:t>Recomendação:</a:t>
            </a:r>
            <a:r>
              <a:rPr lang="pt-BR" sz="2200" dirty="0"/>
              <a:t> Para regiões com ajuste fraco (R² baixo), recomenda-se uma abordagem preditiva multivariada em trabalhos futuros, incluindo variáveis como efetivo policial, malha rodoviária e índices socioeconômicos locais. </a:t>
            </a:r>
          </a:p>
          <a:p>
            <a:r>
              <a:rPr lang="pt-BR" sz="2200" dirty="0"/>
              <a:t> </a:t>
            </a:r>
          </a:p>
          <a:p>
            <a:r>
              <a:rPr lang="pt-BR" sz="2200" b="1" dirty="0"/>
              <a:t>Considerações finais:</a:t>
            </a:r>
            <a:r>
              <a:rPr lang="pt-BR" sz="2200" dirty="0"/>
              <a:t> Mudanças de governo, pandemia global, crise financeira do Estado e fatores que estão além de dados estatísticos influenciam diretamente no resultado da análise e estão fora do escopo de controle para serem incluídos estatisticamente.  </a:t>
            </a:r>
          </a:p>
          <a:p>
            <a:pPr algn="just"/>
            <a:endParaRPr lang="pt-BR" sz="3000" i="1" dirty="0"/>
          </a:p>
        </p:txBody>
      </p:sp>
      <p:pic>
        <p:nvPicPr>
          <p:cNvPr id="7" name="Picture 2" descr="Análise de dados - ícones de computador grátis">
            <a:extLst>
              <a:ext uri="{FF2B5EF4-FFF2-40B4-BE49-F238E27FC236}">
                <a16:creationId xmlns:a16="http://schemas.microsoft.com/office/drawing/2014/main" id="{CF58B1C5-5BAB-738D-68A1-D5D3A3F4A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3" y="65503"/>
            <a:ext cx="1121901" cy="112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9681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17060</TotalTime>
  <Words>1678</Words>
  <Application>Microsoft Office PowerPoint</Application>
  <PresentationFormat>Widescreen</PresentationFormat>
  <Paragraphs>93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INSTITUIÇÃO ESTÁCIO DE SÁ CURSO DE ANÁLISE E DESENVOLVIMENTO DE SISTEMAS PROJETO DE EXTENSÃO EM CIÊNCIA DE DADOS: ANÁLISE REGIONAL DE SEGURANÇA PÚBLICA E MODELAGEM DE REGRESSÃO LINEAR DO FURTO E RECUPERAÇÃO DE VEÍCULOS NO ESTADO DO RIO DE JANEIRO Thiago Marlon da Conceição Esteves Damas (Matrícula: 202502432968) Gabriel Araújo dos Santos Pereira (Matrícula: 202504255079) Orientadora: Prof.a Simone Gama RIO DE JANEIRO 2026 </vt:lpstr>
      <vt:lpstr>Introdução</vt:lpstr>
      <vt:lpstr>Objetivos Geral e Específico</vt:lpstr>
      <vt:lpstr>Ferramentas Usadas </vt:lpstr>
      <vt:lpstr>Base de dados</vt:lpstr>
      <vt:lpstr>Resultados Alcançados</vt:lpstr>
      <vt:lpstr>Resultados Alcançados</vt:lpstr>
      <vt:lpstr>Resultados Alcançados</vt:lpstr>
      <vt:lpstr>Resultados Alcançados</vt:lpstr>
      <vt:lpstr>Resultados Alcançados</vt:lpstr>
      <vt:lpstr>Resultados Alcançados</vt:lpstr>
      <vt:lpstr>       Resultados Alcançados</vt:lpstr>
      <vt:lpstr>Resultados Alcançados</vt:lpstr>
      <vt:lpstr>Resultados Alcançados</vt:lpstr>
      <vt:lpstr>Análise Final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</dc:title>
  <dc:creator>simone gama</dc:creator>
  <cp:lastModifiedBy>THIAGO MARLON DA CONCEICAO ESTEVES DAMAS</cp:lastModifiedBy>
  <cp:revision>625</cp:revision>
  <dcterms:created xsi:type="dcterms:W3CDTF">2020-01-31T14:11:17Z</dcterms:created>
  <dcterms:modified xsi:type="dcterms:W3CDTF">2026-06-15T14:45:54Z</dcterms:modified>
</cp:coreProperties>
</file>